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61522-4E44-4B20-44BE-9DA8479ED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78A799-E9B9-4DA2-0720-AF5452D82E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7B64C-319A-BB0E-9286-E2083674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23DD-75D3-67B0-F920-7FEAB6CC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2B19A-F11F-3D8C-254B-2E2243DF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265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11A12-5765-1990-6496-669161A2B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08E5E-66F2-C406-D102-A5128241B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64D36-8059-3FF3-E5E3-05AF6CCB0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AE4FB-D94D-778D-A7D6-10C81D179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22FFE-CD2A-C805-68D7-060D2DF32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043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47CB9-548B-6DD5-D46D-5AEB99D5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9446F-81EF-A7C0-4AD8-4DE47DDF2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F0099-78BE-0C4D-B792-0FA9BAF1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5CF8A-50B4-0D3F-DA29-10A946F9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90173-328B-0FEE-7BF6-79C56019B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5738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A5522-365C-253B-4D35-D3435AFD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5A0CA-D447-2758-B927-568717F36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50A51-2A82-1F9A-514D-7C8D279FB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1756B-06B2-B3AD-DA2C-11A471991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5C8AE-2D0C-0150-A95F-873F40B5F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A59EA-8D59-BA09-E095-6CED5AA85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70432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0290-FBEA-9C89-D637-7990D1481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E845D-852C-819E-B856-BC8DBB8D5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A1FBB-2A47-AA53-86C3-54090D4C4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EC56D-26B3-4B5D-2E15-7F55B7B46A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81B48-EDFE-5C3A-0F4C-42EF8E64E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62B423-93B9-236E-4065-57762DDEF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1E439E-0108-713F-B218-F8D8BAD6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E7556F-1B91-9472-B650-1999FE2E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3622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AD9B0-CF89-B7DE-CB2C-92586DB10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7553A-054A-B63D-80A9-E4E0CA10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F74A45-452B-5E21-17CF-3AB6B37A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61061-47DF-A245-D0EE-034DD2C5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183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E23D4-6D18-F87C-58D5-7D846A3B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37DA1-E3D4-9551-0D66-A43F8AE34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2701C-F70A-19EF-08C9-D31E7784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33158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C0F15-6F8D-9298-A5F6-92BE298C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CAC01-5EB8-83D1-4223-0AB82B55B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0BB9E-CAC0-C807-4083-A245A031E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53CF7-31DC-F120-68D9-EE21D4781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4313C-CC6A-A6E0-8AEF-622CFB6FA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FB627-5CA4-4123-358F-7A292D45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6559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248C2-C04B-187A-54B8-57BCB47A1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A40C73-E578-3A10-2CFB-E17A267FF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CDCC0-2409-540F-B97B-F918C9939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2C958-7DEB-30BA-AAA6-21261506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40950-4A72-0AC8-1497-C6721C7F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58F56-98A6-AA9D-F84D-C847336D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4518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68B18-F46D-FA1F-4B1F-3C7B92671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A8754E-31CB-1CC3-73D1-921302AF3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DF2EA-2899-E9E5-6A7D-F59E967D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0115C-9019-E0F1-DDEA-8999533F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49D8B-6DF7-8FDA-6461-0F8E113D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47425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6EDD41-92CA-4C32-8B50-86B192E212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CA37B-9AE7-6711-5E95-32D3C6BCF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D792B-1177-166A-83BE-373C8214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8004-ED98-2D5C-EF8F-817685AF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057F5-0B8E-7F4F-43D6-25DB305A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99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6A94E-0EDE-9C77-2725-97F503D5A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81B9A-C8DF-E882-B291-ECCA7E1AE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8D124-D2BE-F7FB-C38F-FBF27E610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EAA8A-4CE8-47F4-B9F8-965CE54A2994}" type="datetimeFigureOut">
              <a:rPr lang="en-ZA" smtClean="0"/>
              <a:t>2026/05/09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81A4B-935C-29D9-60D3-C23B4260B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470DC-C75A-99E7-720B-D0E86562C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AEE5D0-CB87-441D-B0D9-D42E4849B50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4029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F10BCCF-EE9C-4AF5-64AE-A215DEAC078B}"/>
              </a:ext>
            </a:extLst>
          </p:cNvPr>
          <p:cNvSpPr/>
          <p:nvPr/>
        </p:nvSpPr>
        <p:spPr>
          <a:xfrm>
            <a:off x="6096000" y="3067953"/>
            <a:ext cx="2327300" cy="23697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07FB142-4E70-39D3-1C7A-5C792F3D80F0}"/>
              </a:ext>
            </a:extLst>
          </p:cNvPr>
          <p:cNvSpPr/>
          <p:nvPr/>
        </p:nvSpPr>
        <p:spPr>
          <a:xfrm>
            <a:off x="447299" y="3102637"/>
            <a:ext cx="2327300" cy="1966021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FCF548-33EB-5881-788B-588B73A4C92D}"/>
              </a:ext>
            </a:extLst>
          </p:cNvPr>
          <p:cNvSpPr/>
          <p:nvPr/>
        </p:nvSpPr>
        <p:spPr>
          <a:xfrm>
            <a:off x="3238921" y="3063005"/>
            <a:ext cx="2327300" cy="262987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ECE14B-CE50-6A78-05F5-CF044E1C6FE5}"/>
              </a:ext>
            </a:extLst>
          </p:cNvPr>
          <p:cNvSpPr/>
          <p:nvPr/>
        </p:nvSpPr>
        <p:spPr>
          <a:xfrm>
            <a:off x="3075121" y="2537495"/>
            <a:ext cx="1855567" cy="95410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Aptos Slab ExtraBold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173D73-C82C-01EF-3746-9D3560B4B8E0}"/>
              </a:ext>
            </a:extLst>
          </p:cNvPr>
          <p:cNvSpPr/>
          <p:nvPr/>
        </p:nvSpPr>
        <p:spPr>
          <a:xfrm>
            <a:off x="5841897" y="2532607"/>
            <a:ext cx="1855567" cy="95410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Aptos Slab ExtraBold" panose="020F050202020403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77EDA47-E476-C94A-49A0-F32AD4DA4525}"/>
              </a:ext>
            </a:extLst>
          </p:cNvPr>
          <p:cNvSpPr/>
          <p:nvPr/>
        </p:nvSpPr>
        <p:spPr>
          <a:xfrm>
            <a:off x="298171" y="2380180"/>
            <a:ext cx="1855567" cy="954107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latin typeface="Aptos Slab ExtraBold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5D07D-24A4-D5C9-626C-C5DF877AEA50}"/>
              </a:ext>
            </a:extLst>
          </p:cNvPr>
          <p:cNvSpPr txBox="1"/>
          <p:nvPr/>
        </p:nvSpPr>
        <p:spPr>
          <a:xfrm>
            <a:off x="0" y="88941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2800" dirty="0">
                <a:latin typeface="Aptos Slab ExtraBold" panose="020F0502020204030204" pitchFamily="34" charset="0"/>
              </a:rPr>
              <a:t>Comparative Evaluation of Biologically Inspired Motion Detection Models: LGMD, EMD, and a Hybrid Spiking Neural Network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72DB4-8B61-A98B-01E8-C84B287D0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26" b="16368"/>
          <a:stretch>
            <a:fillRect/>
          </a:stretch>
        </p:blipFill>
        <p:spPr>
          <a:xfrm>
            <a:off x="2687786" y="1037699"/>
            <a:ext cx="6032372" cy="10115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30B3E2-9ED9-D2A1-4372-11303B2C9C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0157" y="4300644"/>
            <a:ext cx="2895607" cy="1629488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909A6A-B034-57BB-3FBE-DB3026E5F2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316" y="2242487"/>
            <a:ext cx="2196089" cy="1743460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EBD1C793-D3DD-FA20-9A79-862EC77FE5E9}"/>
              </a:ext>
            </a:extLst>
          </p:cNvPr>
          <p:cNvGrpSpPr/>
          <p:nvPr/>
        </p:nvGrpSpPr>
        <p:grpSpPr>
          <a:xfrm>
            <a:off x="293006" y="4999145"/>
            <a:ext cx="1992701" cy="1519309"/>
            <a:chOff x="376873" y="4777081"/>
            <a:chExt cx="1992701" cy="1519309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A5BB677-A593-BB32-360A-537436751B17}"/>
                </a:ext>
              </a:extLst>
            </p:cNvPr>
            <p:cNvSpPr/>
            <p:nvPr/>
          </p:nvSpPr>
          <p:spPr>
            <a:xfrm>
              <a:off x="376873" y="4777081"/>
              <a:ext cx="1992701" cy="151930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382F9FA-924F-C8CD-66D3-D710D0111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088" y="4837354"/>
              <a:ext cx="1789530" cy="1420696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39162F04-4CB5-4DAB-CC2D-A98F9432F849}"/>
              </a:ext>
            </a:extLst>
          </p:cNvPr>
          <p:cNvSpPr txBox="1"/>
          <p:nvPr/>
        </p:nvSpPr>
        <p:spPr>
          <a:xfrm>
            <a:off x="2124988" y="6244829"/>
            <a:ext cx="82590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latin typeface="Aptos Slab ExtraBold" panose="020F0502020204030204" pitchFamily="34" charset="0"/>
              </a:rPr>
              <a:t>Hybridising bio-inspired motion detectors within a spiking framework produces reproducible collision prediction with zero false positives on looming stimuli.</a:t>
            </a:r>
            <a:endParaRPr lang="en-ZA" sz="1600" b="1" dirty="0">
              <a:latin typeface="Aptos Slab ExtraBold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3428A1-0F76-1C24-8B39-6C0B977865ED}"/>
              </a:ext>
            </a:extLst>
          </p:cNvPr>
          <p:cNvSpPr txBox="1"/>
          <p:nvPr/>
        </p:nvSpPr>
        <p:spPr>
          <a:xfrm>
            <a:off x="6136936" y="3572894"/>
            <a:ext cx="21320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>
                <a:latin typeface="Aptos Slab SemiBold" panose="020F0502020204030204" pitchFamily="34" charset="0"/>
              </a:rPr>
              <a:t>Precision = </a:t>
            </a:r>
            <a:r>
              <a:rPr lang="en-GB" sz="1400" b="1" dirty="0">
                <a:latin typeface="Aptos Slab SemiBold" panose="020F0502020204030204" pitchFamily="34" charset="0"/>
              </a:rPr>
              <a:t>1.00</a:t>
            </a:r>
            <a:r>
              <a:rPr lang="en-GB" sz="1400" dirty="0">
                <a:latin typeface="Aptos Slab SemiBold" panose="020F0502020204030204" pitchFamily="34" charset="0"/>
              </a:rPr>
              <a:t> on looming (zero false positives)</a:t>
            </a:r>
            <a:endParaRPr lang="en-ZA" sz="1400" dirty="0">
              <a:latin typeface="Aptos Slab SemiBold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F86189-6EA6-F4BE-2227-0E3E8668DC80}"/>
              </a:ext>
            </a:extLst>
          </p:cNvPr>
          <p:cNvSpPr txBox="1"/>
          <p:nvPr/>
        </p:nvSpPr>
        <p:spPr>
          <a:xfrm>
            <a:off x="503138" y="3299754"/>
            <a:ext cx="22506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dirty="0">
                <a:latin typeface="Aptos Slab SemiBold" panose="020F0502020204030204" pitchFamily="34" charset="0"/>
              </a:rPr>
              <a:t>F</a:t>
            </a:r>
            <a:r>
              <a:rPr lang="en-ZA" sz="1400">
                <a:latin typeface="Aptos Slab SemiBold" panose="020F0502020204030204" pitchFamily="34" charset="0"/>
              </a:rPr>
              <a:t>ires </a:t>
            </a:r>
            <a:r>
              <a:rPr lang="en-ZA" sz="1400" dirty="0">
                <a:latin typeface="Aptos Slab SemiBold" panose="020F0502020204030204" pitchFamily="34" charset="0"/>
              </a:rPr>
              <a:t>at frames </a:t>
            </a:r>
            <a:r>
              <a:rPr lang="en-ZA" sz="1400" b="1" dirty="0">
                <a:latin typeface="Aptos Slab SemiBold" panose="020F0502020204030204" pitchFamily="34" charset="0"/>
              </a:rPr>
              <a:t>9–11, </a:t>
            </a:r>
            <a:r>
              <a:rPr lang="en-ZA" sz="1400" dirty="0">
                <a:latin typeface="Aptos Slab SemiBold" panose="020F0502020204030204" pitchFamily="34" charset="0"/>
              </a:rPr>
              <a:t>before magnitude threshold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510267-68E3-20EB-C145-640AA31A6972}"/>
              </a:ext>
            </a:extLst>
          </p:cNvPr>
          <p:cNvSpPr txBox="1"/>
          <p:nvPr/>
        </p:nvSpPr>
        <p:spPr>
          <a:xfrm>
            <a:off x="3370506" y="3639277"/>
            <a:ext cx="210040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400" dirty="0">
                <a:latin typeface="Aptos Slab SemiBold" panose="020F0502020204030204" pitchFamily="34" charset="0"/>
              </a:rPr>
              <a:t>Motion energy ≈ </a:t>
            </a:r>
            <a:r>
              <a:rPr lang="en-ZA" sz="1400" b="1" dirty="0">
                <a:latin typeface="Aptos Slab SemiBold" panose="020F0502020204030204" pitchFamily="34" charset="0"/>
              </a:rPr>
              <a:t>0</a:t>
            </a:r>
            <a:r>
              <a:rPr lang="en-ZA" sz="1400" dirty="0">
                <a:latin typeface="Aptos Slab SemiBold" panose="020F0502020204030204" pitchFamily="34" charset="0"/>
              </a:rPr>
              <a:t> on looming: directional cancellation confirmed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664FFE-A3E5-449A-F3A0-421322FB3DC6}"/>
              </a:ext>
            </a:extLst>
          </p:cNvPr>
          <p:cNvSpPr txBox="1"/>
          <p:nvPr/>
        </p:nvSpPr>
        <p:spPr>
          <a:xfrm>
            <a:off x="503138" y="4116237"/>
            <a:ext cx="22506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ptos Slab SemiBold" panose="020F0502020204030204" pitchFamily="34" charset="0"/>
              </a:rPr>
              <a:t>rate-sensitive, fires early, biologically faithful</a:t>
            </a:r>
            <a:endParaRPr lang="en-ZA" sz="1400" dirty="0">
              <a:latin typeface="Aptos Slab SemiBold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2CFEF40-7311-1A3A-03E6-4A0889E4D0B4}"/>
              </a:ext>
            </a:extLst>
          </p:cNvPr>
          <p:cNvSpPr txBox="1"/>
          <p:nvPr/>
        </p:nvSpPr>
        <p:spPr>
          <a:xfrm>
            <a:off x="3274889" y="4699075"/>
            <a:ext cx="2340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ptos Slab SemiBold" panose="020F0502020204030204" pitchFamily="34" charset="0"/>
              </a:rPr>
              <a:t>directional detector, not a collision classifier by design</a:t>
            </a:r>
            <a:endParaRPr lang="en-ZA" sz="1400" dirty="0">
              <a:latin typeface="Aptos Slab SemiBold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919354-2E5B-8A88-AE88-7B064366EE34}"/>
              </a:ext>
            </a:extLst>
          </p:cNvPr>
          <p:cNvSpPr txBox="1"/>
          <p:nvPr/>
        </p:nvSpPr>
        <p:spPr>
          <a:xfrm>
            <a:off x="6136936" y="4363995"/>
            <a:ext cx="21320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ptos Slab SemiBold" panose="020F0502020204030204" pitchFamily="34" charset="0"/>
              </a:rPr>
              <a:t>trainable, precision=1.0, sim-to-real gap identified</a:t>
            </a:r>
            <a:endParaRPr lang="en-ZA" sz="1400" dirty="0">
              <a:latin typeface="Aptos Slab SemiBold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32DC65-37E6-4CA4-2019-297B8B6FFA69}"/>
              </a:ext>
            </a:extLst>
          </p:cNvPr>
          <p:cNvSpPr txBox="1"/>
          <p:nvPr/>
        </p:nvSpPr>
        <p:spPr>
          <a:xfrm>
            <a:off x="1378823" y="2539761"/>
            <a:ext cx="8010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ZA" sz="1600" b="1" dirty="0">
                <a:latin typeface="Aptos Slab ExtraBold" panose="020F0502020204030204" pitchFamily="34" charset="0"/>
              </a:rPr>
              <a:t>LGMD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1EE071-82B4-45FD-EFEE-C327BFBE97AB}"/>
              </a:ext>
            </a:extLst>
          </p:cNvPr>
          <p:cNvSpPr txBox="1"/>
          <p:nvPr/>
        </p:nvSpPr>
        <p:spPr>
          <a:xfrm>
            <a:off x="4302852" y="2734674"/>
            <a:ext cx="6681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ZA" sz="1600" b="1" dirty="0">
                <a:latin typeface="Aptos Slab ExtraBold" panose="020F0502020204030204" pitchFamily="34" charset="0"/>
              </a:rPr>
              <a:t>EMD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9FB502-9E5C-55CD-E528-0AF9A7CBBD81}"/>
              </a:ext>
            </a:extLst>
          </p:cNvPr>
          <p:cNvSpPr txBox="1"/>
          <p:nvPr/>
        </p:nvSpPr>
        <p:spPr>
          <a:xfrm>
            <a:off x="6976125" y="2724451"/>
            <a:ext cx="6681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ZA" sz="1600" b="1" dirty="0">
                <a:latin typeface="Aptos Slab ExtraBold" panose="020F0502020204030204" pitchFamily="34" charset="0"/>
              </a:rPr>
              <a:t>SNN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78B638-091B-8C77-8489-DAD13AE7C9BB}"/>
              </a:ext>
            </a:extLst>
          </p:cNvPr>
          <p:cNvSpPr txBox="1"/>
          <p:nvPr/>
        </p:nvSpPr>
        <p:spPr>
          <a:xfrm>
            <a:off x="492614" y="2774262"/>
            <a:ext cx="1675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ZA" sz="1400" dirty="0" err="1">
                <a:latin typeface="Aptos Slab ExtraBold" panose="020F0502020204030204" pitchFamily="34" charset="0"/>
              </a:rPr>
              <a:t>Lobula</a:t>
            </a:r>
            <a:r>
              <a:rPr lang="en-ZA" sz="1400" dirty="0">
                <a:latin typeface="Aptos Slab ExtraBold" panose="020F0502020204030204" pitchFamily="34" charset="0"/>
              </a:rPr>
              <a:t> Giant Motion Detector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45445A-7ADB-C9CA-779B-11BAF6C59074}"/>
              </a:ext>
            </a:extLst>
          </p:cNvPr>
          <p:cNvSpPr txBox="1"/>
          <p:nvPr/>
        </p:nvSpPr>
        <p:spPr>
          <a:xfrm>
            <a:off x="3254790" y="2926383"/>
            <a:ext cx="16752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ZA" sz="1400" dirty="0">
                <a:latin typeface="Aptos Slab ExtraBold" panose="020F0502020204030204" pitchFamily="34" charset="0"/>
              </a:rPr>
              <a:t>Elementary Motion Detector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D842B0-149E-EE54-7CFC-28C828710F88}"/>
              </a:ext>
            </a:extLst>
          </p:cNvPr>
          <p:cNvSpPr txBox="1"/>
          <p:nvPr/>
        </p:nvSpPr>
        <p:spPr>
          <a:xfrm>
            <a:off x="5820325" y="2930260"/>
            <a:ext cx="18239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ZA" sz="1400" dirty="0">
                <a:latin typeface="Aptos Slab ExtraBold" panose="020F0502020204030204" pitchFamily="34" charset="0"/>
              </a:rPr>
              <a:t>Spiking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3838294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1640</TotalTime>
  <Words>105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Aptos Slab ExtraBold</vt:lpstr>
      <vt:lpstr>Aptos Slab SemiBold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</dc:creator>
  <cp:lastModifiedBy>-</cp:lastModifiedBy>
  <cp:revision>2</cp:revision>
  <dcterms:created xsi:type="dcterms:W3CDTF">2026-05-08T17:07:56Z</dcterms:created>
  <dcterms:modified xsi:type="dcterms:W3CDTF">2026-05-09T20:31:04Z</dcterms:modified>
</cp:coreProperties>
</file>